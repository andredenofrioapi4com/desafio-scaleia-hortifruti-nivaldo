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32B1C"/>
                </a:solidFill>
                <a:latin typeface="Arial"/>
              </a:defRPr>
            </a:pPr>
            <a:r>
              <a:rPr sz="1300" b="0" i="0" u="none" strike="noStrike">
                <a:solidFill>
                  <a:srgbClr val="232B1C"/>
                </a:solidFill>
                <a:latin typeface="Arial"/>
              </a:rPr>
              <a:t>Risco acumulado do lote de manga (%)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P(perda antes de 2ª)</c:v>
                </c:pt>
              </c:strCache>
            </c:strRef>
          </c:tx>
          <c:spPr>
            <a:solidFill>
              <a:srgbClr val="E8862D"/>
            </a:solidFill>
            <a:ln w="38100" cap="flat">
              <a:solidFill>
                <a:srgbClr val="E886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B85E12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862D"/>
              </a:solidFill>
              <a:ln w="9525" cap="flat">
                <a:solidFill>
                  <a:srgbClr val="E8862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Sex</c:v>
                  </c:pt>
                  <c:pt idx="1">
                    <c:v>Sáb 6:30</c:v>
                  </c:pt>
                  <c:pt idx="2">
                    <c:v>Dom</c:v>
                  </c:pt>
                  <c:pt idx="3">
                    <c:v>Seg (CEASA)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30</c:v>
                </c:pt>
                <c:pt idx="2">
                  <c:v>62</c:v>
                </c:pt>
                <c:pt idx="3">
                  <c:v>90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Limiar de disparo</c:v>
                </c:pt>
              </c:strCache>
            </c:strRef>
          </c:tx>
          <c:spPr>
            <a:solidFill>
              <a:srgbClr val="6B7263"/>
            </a:solidFill>
            <a:ln w="38100" cap="flat">
              <a:solidFill>
                <a:srgbClr val="6B726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B85E12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6B7263"/>
              </a:solidFill>
              <a:ln w="9525" cap="flat">
                <a:solidFill>
                  <a:srgbClr val="6B726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Sex</c:v>
                  </c:pt>
                  <c:pt idx="1">
                    <c:v>Sáb 6:30</c:v>
                  </c:pt>
                  <c:pt idx="2">
                    <c:v>Dom</c:v>
                  </c:pt>
                  <c:pt idx="3">
                    <c:v>Seg (CEASA)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45</c:v>
                </c:pt>
                <c:pt idx="1">
                  <c:v>45</c:v>
                </c:pt>
                <c:pt idx="2">
                  <c:v>45</c:v>
                </c:pt>
                <c:pt idx="3">
                  <c:v>45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B85E12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6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4E8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6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com a foto da fachada. Uma frase: hoje vamos mostrar como o proprio Nivaldo, sem saber, ja produz todos os dados de que a solucao precisa.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Narrar a rotina apontando as fotos. Frase-chave: nao vamos pedir nada novo pra ele — reparem que cada momento do dia ja gera um dado.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 solucao neste slide. So a dor, com foto real. Se tiverem numero real de perda semanal em reais, falar aqui.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slide mais importante. Pausa antes e depois da frase-titulo. E aqui que o jurado decide prestar atencao.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Apontar os selos: cinco das seis fontes ja existem ou sao gratuitas. So a balanca e compra — e e fase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Narrar de cima pra baixo em 60 segundos. Nao ler as caixas: apontar que toda etapa e uma tecnica nomeada, exigencia do edital.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foto de 15 segundos e o unico gesto novo do dia de CEASA. Record linkage: TOM ITAL vira tomate italiano sozinho.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 tecnico pra arguicao: nao e classificacao fresca vs podre — e analise de sobrevivencia. O sistema dispara ANTES do estrago, olhando trajetoria + calendario do CEASA.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duas dores do edital resolvidas na mesma tela. Se der, substituir os moques por prints reais encenados com o feirante.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 emocional do caso: mesma foto, outro conteudo. O relatorio e o argumento de retencao.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perguntarem de sazonalidade sem anos de dado: prior hierarquico com series publicas do CEASA — o modelo comeca apoiado no mercado e ganha personalidade com o historico do Nivaldo.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com a frase da camera so se sobrar folego ou se perguntarem. Deixar a arguicao aberta — o glossario e a cola.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74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822960"/>
            <a:ext cx="4023360" cy="52120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543800" y="5705856"/>
            <a:ext cx="2651760" cy="237744"/>
          </a:xfrm>
          <a:prstGeom prst="roundRect">
            <a:avLst>
              <a:gd name="adj" fmla="val 50000"/>
            </a:avLst>
          </a:prstGeom>
          <a:solidFill>
            <a:srgbClr val="FFFFFF">
              <a:alpha val="78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543800" y="570585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ilustração · trocar pela foto real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640080" y="1417320"/>
            <a:ext cx="6492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8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caixote</a:t>
            </a:r>
            <a:endParaRPr lang="en-US" sz="54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Nivaldo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658368" y="38862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D8E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um hortifruti de esquina vira uma operação orientada a dados —</a:t>
            </a:r>
            <a:endParaRPr lang="en-US" sz="17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D8E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planilha, sem PDV e sem 3 minutos a mais no dia dele.</a:t>
            </a:r>
            <a:endParaRPr lang="en-US" sz="17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640080"/>
            <a:ext cx="384048" cy="3840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8368" y="5989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 Sebrae Startups · AppScale IA · 24 jul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32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dia na vida do Nivaldo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58368" y="11887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rotina já existe. A solução entra nela — não mexe nela.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14400" y="2331720"/>
            <a:ext cx="10360152" cy="0"/>
          </a:xfrm>
          <a:prstGeom prst="line">
            <a:avLst/>
          </a:prstGeom>
          <a:noFill/>
          <a:ln w="31750">
            <a:solidFill>
              <a:srgbClr val="97BC6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1348" y="2029968"/>
            <a:ext cx="603504" cy="603504"/>
          </a:xfrm>
          <a:prstGeom prst="ellipse">
            <a:avLst/>
          </a:prstGeom>
          <a:solidFill>
            <a:srgbClr val="3E6B2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6189" y="2174809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71576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E6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4:00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40080" y="308152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CEASA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3447288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 3×/semana e sai com o romaneio na mão (Seg · Qua · Sex)</a:t>
            </a:r>
            <a:endParaRPr lang="en-US" sz="11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4434840"/>
            <a:ext cx="2093976" cy="1417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987552" y="5522976"/>
            <a:ext cx="1911096" cy="237744"/>
          </a:xfrm>
          <a:prstGeom prst="roundRect">
            <a:avLst>
              <a:gd name="adj" fmla="val 50000"/>
            </a:avLst>
          </a:prstGeom>
          <a:solidFill>
            <a:srgbClr val="FFFFFF">
              <a:alpha val="78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987552" y="5522976"/>
            <a:ext cx="1911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ilustração · trocar pela foto real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4475988" y="2029968"/>
            <a:ext cx="603504" cy="603504"/>
          </a:xfrm>
          <a:prstGeom prst="ellipse">
            <a:avLst/>
          </a:prstGeom>
          <a:solidFill>
            <a:srgbClr val="E8862D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0829" y="2174809"/>
            <a:ext cx="313822" cy="31382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474720" y="271576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B85E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6:30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3474720" y="308152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Caixote + fotos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3566160" y="3447288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 o que passou do ponto e fotografa a prateleira pro grupo</a:t>
            </a:r>
            <a:endParaRPr lang="en-US" sz="11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0752" y="4434840"/>
            <a:ext cx="2093976" cy="141732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3822192" y="5522976"/>
            <a:ext cx="1911096" cy="237744"/>
          </a:xfrm>
          <a:prstGeom prst="roundRect">
            <a:avLst>
              <a:gd name="adj" fmla="val 50000"/>
            </a:avLst>
          </a:prstGeom>
          <a:solidFill>
            <a:srgbClr val="FFFFFF">
              <a:alpha val="78000"/>
            </a:srgbClr>
          </a:solidFill>
          <a:ln/>
        </p:spPr>
      </p:sp>
      <p:sp>
        <p:nvSpPr>
          <p:cNvPr id="20" name="Text 14"/>
          <p:cNvSpPr/>
          <p:nvPr/>
        </p:nvSpPr>
        <p:spPr>
          <a:xfrm>
            <a:off x="3822192" y="5522976"/>
            <a:ext cx="1911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ilustração · trocar pela foto real</a:t>
            </a:r>
            <a:endParaRPr lang="en-US" sz="850" dirty="0"/>
          </a:p>
        </p:txBody>
      </p:sp>
      <p:sp>
        <p:nvSpPr>
          <p:cNvPr id="21" name="Shape 15"/>
          <p:cNvSpPr/>
          <p:nvPr/>
        </p:nvSpPr>
        <p:spPr>
          <a:xfrm>
            <a:off x="7310628" y="2029968"/>
            <a:ext cx="603504" cy="603504"/>
          </a:xfrm>
          <a:prstGeom prst="ellipse">
            <a:avLst/>
          </a:prstGeom>
          <a:solidFill>
            <a:srgbClr val="3E6B2F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5469" y="2174809"/>
            <a:ext cx="313822" cy="31382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309360" y="271576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E6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</a:t>
            </a:r>
            <a:endParaRPr lang="en-US" sz="1900" dirty="0"/>
          </a:p>
        </p:txBody>
      </p:sp>
      <p:sp>
        <p:nvSpPr>
          <p:cNvPr id="24" name="Text 17"/>
          <p:cNvSpPr/>
          <p:nvPr/>
        </p:nvSpPr>
        <p:spPr>
          <a:xfrm>
            <a:off x="6309360" y="308152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 no olho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6400800" y="3447288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de cabeça, maquininha só mostra o total, gaveta de dinheiro</a:t>
            </a:r>
            <a:endParaRPr lang="en-US" sz="115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5392" y="4434840"/>
            <a:ext cx="2093976" cy="1417320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6656832" y="5522976"/>
            <a:ext cx="1911096" cy="237744"/>
          </a:xfrm>
          <a:prstGeom prst="roundRect">
            <a:avLst>
              <a:gd name="adj" fmla="val 50000"/>
            </a:avLst>
          </a:prstGeom>
          <a:solidFill>
            <a:srgbClr val="FFFFFF">
              <a:alpha val="78000"/>
            </a:srgbClr>
          </a:solidFill>
          <a:ln/>
        </p:spPr>
      </p:sp>
      <p:sp>
        <p:nvSpPr>
          <p:cNvPr id="28" name="Text 20"/>
          <p:cNvSpPr/>
          <p:nvPr/>
        </p:nvSpPr>
        <p:spPr>
          <a:xfrm>
            <a:off x="6656832" y="5522976"/>
            <a:ext cx="1911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ilustração · trocar pela foto real</a:t>
            </a:r>
            <a:endParaRPr lang="en-US" sz="850" dirty="0"/>
          </a:p>
        </p:txBody>
      </p:sp>
      <p:sp>
        <p:nvSpPr>
          <p:cNvPr id="29" name="Shape 21"/>
          <p:cNvSpPr/>
          <p:nvPr/>
        </p:nvSpPr>
        <p:spPr>
          <a:xfrm>
            <a:off x="10145268" y="2029968"/>
            <a:ext cx="603504" cy="603504"/>
          </a:xfrm>
          <a:prstGeom prst="ellipse">
            <a:avLst/>
          </a:prstGeom>
          <a:solidFill>
            <a:srgbClr val="E8862D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90109" y="2174809"/>
            <a:ext cx="313822" cy="313822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9144000" y="271576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B85E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tarde</a:t>
            </a:r>
            <a:endParaRPr lang="en-US" sz="1900" dirty="0"/>
          </a:p>
        </p:txBody>
      </p:sp>
      <p:sp>
        <p:nvSpPr>
          <p:cNvPr id="32" name="Text 23"/>
          <p:cNvSpPr/>
          <p:nvPr/>
        </p:nvSpPr>
        <p:spPr>
          <a:xfrm>
            <a:off x="9144000" y="308152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 no zap</a:t>
            </a:r>
            <a:endParaRPr lang="en-US" sz="1500" dirty="0"/>
          </a:p>
        </p:txBody>
      </p:sp>
      <p:sp>
        <p:nvSpPr>
          <p:cNvPr id="33" name="Text 24"/>
          <p:cNvSpPr/>
          <p:nvPr/>
        </p:nvSpPr>
        <p:spPr>
          <a:xfrm>
            <a:off x="9235440" y="3447288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percebe que a fruta vai perder, manda oferta pro grupo</a:t>
            </a:r>
            <a:endParaRPr lang="en-US" sz="1150" dirty="0"/>
          </a:p>
        </p:txBody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00032" y="4434840"/>
            <a:ext cx="2093976" cy="1417320"/>
          </a:xfrm>
          <a:prstGeom prst="rect">
            <a:avLst/>
          </a:prstGeom>
        </p:spPr>
      </p:pic>
      <p:sp>
        <p:nvSpPr>
          <p:cNvPr id="35" name="Shape 25"/>
          <p:cNvSpPr/>
          <p:nvPr/>
        </p:nvSpPr>
        <p:spPr>
          <a:xfrm>
            <a:off x="9491472" y="5522976"/>
            <a:ext cx="1911096" cy="237744"/>
          </a:xfrm>
          <a:prstGeom prst="roundRect">
            <a:avLst>
              <a:gd name="adj" fmla="val 50000"/>
            </a:avLst>
          </a:prstGeom>
          <a:solidFill>
            <a:srgbClr val="FFFFFF">
              <a:alpha val="78000"/>
            </a:srgbClr>
          </a:solidFill>
          <a:ln/>
        </p:spPr>
      </p:sp>
      <p:sp>
        <p:nvSpPr>
          <p:cNvPr id="36" name="Text 26"/>
          <p:cNvSpPr/>
          <p:nvPr/>
        </p:nvSpPr>
        <p:spPr>
          <a:xfrm>
            <a:off x="9491472" y="5522976"/>
            <a:ext cx="1911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ilustração · trocar pela foto real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32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duas dores que ele paga pra resolver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394960" cy="4846320"/>
          </a:xfrm>
          <a:prstGeom prst="roundRect">
            <a:avLst>
              <a:gd name="adj" fmla="val 2264"/>
            </a:avLst>
          </a:prstGeom>
          <a:solidFill>
            <a:srgbClr val="F0F5E9"/>
          </a:solidFill>
          <a:ln/>
        </p:spPr>
      </p:sp>
      <p:sp>
        <p:nvSpPr>
          <p:cNvPr id="4" name="Shape 2"/>
          <p:cNvSpPr/>
          <p:nvPr/>
        </p:nvSpPr>
        <p:spPr>
          <a:xfrm>
            <a:off x="960120" y="1737360"/>
            <a:ext cx="566928" cy="566928"/>
          </a:xfrm>
          <a:prstGeom prst="ellipse">
            <a:avLst/>
          </a:prstGeom>
          <a:solidFill>
            <a:srgbClr val="3E6B2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6183" y="1873423"/>
            <a:ext cx="294803" cy="294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75564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sem resposta</a:t>
            </a:r>
            <a:endParaRPr lang="en-US" sz="20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514600"/>
            <a:ext cx="4754880" cy="21031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051560" y="4288536"/>
            <a:ext cx="2651760" cy="237744"/>
          </a:xfrm>
          <a:prstGeom prst="roundRect">
            <a:avLst>
              <a:gd name="adj" fmla="val 50000"/>
            </a:avLst>
          </a:prstGeom>
          <a:solidFill>
            <a:srgbClr val="FFFFFF">
              <a:alpha val="78000"/>
            </a:srgbClr>
          </a:solidFill>
          <a:ln/>
        </p:spPr>
      </p:sp>
      <p:sp>
        <p:nvSpPr>
          <p:cNvPr id="9" name="Text 5"/>
          <p:cNvSpPr/>
          <p:nvPr/>
        </p:nvSpPr>
        <p:spPr>
          <a:xfrm>
            <a:off x="1051560" y="428853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ilustração · trocar pela foto real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960120" y="484632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23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pergunta no zap, Nivaldo está pesando, atendendo, no CEASA. </a:t>
            </a:r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3E6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pergunta sem resposta é venda perdida — e cliente que migra.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263640" y="1417320"/>
            <a:ext cx="5394960" cy="4846320"/>
          </a:xfrm>
          <a:prstGeom prst="roundRect">
            <a:avLst>
              <a:gd name="adj" fmla="val 2264"/>
            </a:avLst>
          </a:prstGeom>
          <a:solidFill>
            <a:srgbClr val="FCEFDF"/>
          </a:solidFill>
          <a:ln/>
        </p:spPr>
      </p:sp>
      <p:sp>
        <p:nvSpPr>
          <p:cNvPr id="12" name="Shape 8"/>
          <p:cNvSpPr/>
          <p:nvPr/>
        </p:nvSpPr>
        <p:spPr>
          <a:xfrm>
            <a:off x="6583680" y="1737360"/>
            <a:ext cx="566928" cy="566928"/>
          </a:xfrm>
          <a:prstGeom prst="ellipse">
            <a:avLst/>
          </a:prstGeom>
          <a:solidFill>
            <a:srgbClr val="E8862D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9743" y="1873423"/>
            <a:ext cx="294803" cy="29480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315200" y="175564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caixote de toda manhã</a:t>
            </a:r>
            <a:endParaRPr lang="en-US" sz="20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2514600"/>
            <a:ext cx="4754880" cy="210312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675120" y="4288536"/>
            <a:ext cx="2651760" cy="237744"/>
          </a:xfrm>
          <a:prstGeom prst="roundRect">
            <a:avLst>
              <a:gd name="adj" fmla="val 50000"/>
            </a:avLst>
          </a:prstGeom>
          <a:solidFill>
            <a:srgbClr val="FFFFFF">
              <a:alpha val="78000"/>
            </a:srgbClr>
          </a:solidFill>
          <a:ln/>
        </p:spPr>
      </p:sp>
      <p:sp>
        <p:nvSpPr>
          <p:cNvPr id="17" name="Text 11"/>
          <p:cNvSpPr/>
          <p:nvPr/>
        </p:nvSpPr>
        <p:spPr>
          <a:xfrm>
            <a:off x="6675120" y="428853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ilustração · trocar pela foto real</a:t>
            </a:r>
            <a:endParaRPr lang="en-US" sz="850" dirty="0"/>
          </a:p>
        </p:txBody>
      </p:sp>
      <p:sp>
        <p:nvSpPr>
          <p:cNvPr id="18" name="Text 12"/>
          <p:cNvSpPr/>
          <p:nvPr/>
        </p:nvSpPr>
        <p:spPr>
          <a:xfrm>
            <a:off x="6583680" y="484632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23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fruta descartada foi comprada com dinheiro dele no CEASA. </a:t>
            </a:r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B85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caixote é margem no lixo — e ele só percebe quando já é tarde.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74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960120"/>
            <a:ext cx="4846320" cy="48463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14400" y="5477256"/>
            <a:ext cx="2651760" cy="237744"/>
          </a:xfrm>
          <a:prstGeom prst="roundRect">
            <a:avLst>
              <a:gd name="adj" fmla="val 50000"/>
            </a:avLst>
          </a:prstGeom>
          <a:solidFill>
            <a:srgbClr val="FFFFFF">
              <a:alpha val="78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47725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ilustração · trocar pela foto real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6126480" y="137160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Às 6:30, o Nivaldo já rotula</a:t>
            </a:r>
            <a:endParaRPr lang="en-US" sz="33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dataset sem saber.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6144768" y="3291840"/>
            <a:ext cx="5394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D8E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foto da prateleira é o estoque.
</a:t>
            </a:r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D8E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foto do caixote é o desfecho: </a:t>
            </a:r>
            <a:pPr indent="0" marL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fruta, causa.
</a:t>
            </a:r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D8E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Ninguém precisa coletar dados por meses — o </a:t>
            </a:r>
            <a:pPr indent="0" marL="0">
              <a:lnSpc>
                <a:spcPts val="2600"/>
              </a:lnSpc>
              <a:buNone/>
            </a:pPr>
            <a:r>
              <a:rPr lang="en-US" sz="18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</a:t>
            </a:r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D8E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nasce todo dia, de graça, num gesto que ele já faz.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32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onde vem cada dado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58368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pro Nivaldo: praticamente zero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F0F5E9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20240"/>
            <a:ext cx="530352" cy="53035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8009" y="2039569"/>
            <a:ext cx="291694" cy="2916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29384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Romaneio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896112" y="260604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7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foto, 3×/semana, 15 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96112" y="3172968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3E6B2F"/>
          </a:solidFill>
          <a:ln/>
        </p:spPr>
      </p:sp>
      <p:sp>
        <p:nvSpPr>
          <p:cNvPr id="10" name="Text 7"/>
          <p:cNvSpPr/>
          <p:nvPr/>
        </p:nvSpPr>
        <p:spPr>
          <a:xfrm>
            <a:off x="896112" y="3172968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EXISTE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434840" y="169164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F0F5E9"/>
          </a:solidFill>
          <a:ln/>
        </p:spPr>
      </p:sp>
      <p:sp>
        <p:nvSpPr>
          <p:cNvPr id="12" name="Shape 9"/>
          <p:cNvSpPr/>
          <p:nvPr/>
        </p:nvSpPr>
        <p:spPr>
          <a:xfrm>
            <a:off x="4663440" y="1920240"/>
            <a:ext cx="530352" cy="53035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769" y="2039569"/>
            <a:ext cx="291694" cy="29169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49240" y="1929384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Prateleira 6:30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4690872" y="260604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7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que ele já tira pro grupo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4690872" y="3172968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3E6B2F"/>
          </a:solidFill>
          <a:ln/>
        </p:spPr>
      </p:sp>
      <p:sp>
        <p:nvSpPr>
          <p:cNvPr id="17" name="Text 13"/>
          <p:cNvSpPr/>
          <p:nvPr/>
        </p:nvSpPr>
        <p:spPr>
          <a:xfrm>
            <a:off x="4690872" y="3172968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EXISTE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8229600" y="169164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F0F5E9"/>
          </a:solidFill>
          <a:ln/>
        </p:spPr>
      </p:sp>
      <p:sp>
        <p:nvSpPr>
          <p:cNvPr id="19" name="Shape 15"/>
          <p:cNvSpPr/>
          <p:nvPr/>
        </p:nvSpPr>
        <p:spPr>
          <a:xfrm>
            <a:off x="8458200" y="1920240"/>
            <a:ext cx="530352" cy="53035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7529" y="2039569"/>
            <a:ext cx="291694" cy="29169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144000" y="1929384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Caixote</a:t>
            </a:r>
            <a:endParaRPr lang="en-US" sz="1650" dirty="0"/>
          </a:p>
        </p:txBody>
      </p:sp>
      <p:sp>
        <p:nvSpPr>
          <p:cNvPr id="22" name="Text 17"/>
          <p:cNvSpPr/>
          <p:nvPr/>
        </p:nvSpPr>
        <p:spPr>
          <a:xfrm>
            <a:off x="8485632" y="260604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7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do descarte já separado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8485632" y="3172968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3E6B2F"/>
          </a:solidFill>
          <a:ln/>
        </p:spPr>
      </p:sp>
      <p:sp>
        <p:nvSpPr>
          <p:cNvPr id="24" name="Text 19"/>
          <p:cNvSpPr/>
          <p:nvPr/>
        </p:nvSpPr>
        <p:spPr>
          <a:xfrm>
            <a:off x="8485632" y="3172968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EXISTE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640080" y="388620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F0F5E9"/>
          </a:solidFill>
          <a:ln/>
        </p:spPr>
      </p:sp>
      <p:sp>
        <p:nvSpPr>
          <p:cNvPr id="26" name="Shape 21"/>
          <p:cNvSpPr/>
          <p:nvPr/>
        </p:nvSpPr>
        <p:spPr>
          <a:xfrm>
            <a:off x="868680" y="4114800"/>
            <a:ext cx="530352" cy="53035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009" y="4234129"/>
            <a:ext cx="291694" cy="29169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554480" y="4123944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do zap</a:t>
            </a:r>
            <a:endParaRPr lang="en-US" sz="1650" dirty="0"/>
          </a:p>
        </p:txBody>
      </p:sp>
      <p:sp>
        <p:nvSpPr>
          <p:cNvPr id="29" name="Text 23"/>
          <p:cNvSpPr/>
          <p:nvPr/>
        </p:nvSpPr>
        <p:spPr>
          <a:xfrm>
            <a:off x="896112" y="480060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7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~200 clientes, histórico de conversas</a:t>
            </a:r>
            <a:endParaRPr lang="en-US" sz="1250" dirty="0"/>
          </a:p>
        </p:txBody>
      </p:sp>
      <p:sp>
        <p:nvSpPr>
          <p:cNvPr id="30" name="Shape 24"/>
          <p:cNvSpPr/>
          <p:nvPr/>
        </p:nvSpPr>
        <p:spPr>
          <a:xfrm>
            <a:off x="896112" y="5367528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3E6B2F"/>
          </a:solidFill>
          <a:ln/>
        </p:spPr>
      </p:sp>
      <p:sp>
        <p:nvSpPr>
          <p:cNvPr id="31" name="Text 25"/>
          <p:cNvSpPr/>
          <p:nvPr/>
        </p:nvSpPr>
        <p:spPr>
          <a:xfrm>
            <a:off x="896112" y="5367528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EXISTE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4434840" y="388620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F0F5E9"/>
          </a:solidFill>
          <a:ln/>
        </p:spPr>
      </p:sp>
      <p:sp>
        <p:nvSpPr>
          <p:cNvPr id="33" name="Shape 27"/>
          <p:cNvSpPr/>
          <p:nvPr/>
        </p:nvSpPr>
        <p:spPr>
          <a:xfrm>
            <a:off x="4663440" y="4114800"/>
            <a:ext cx="530352" cy="53035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2769" y="4234129"/>
            <a:ext cx="291694" cy="291694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5349240" y="4123944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Balança (PLU)</a:t>
            </a:r>
            <a:endParaRPr lang="en-US" sz="1650" dirty="0"/>
          </a:p>
        </p:txBody>
      </p:sp>
      <p:sp>
        <p:nvSpPr>
          <p:cNvPr id="36" name="Text 29"/>
          <p:cNvSpPr/>
          <p:nvPr/>
        </p:nvSpPr>
        <p:spPr>
          <a:xfrm>
            <a:off x="4690872" y="480060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7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de venda por produto e hora</a:t>
            </a:r>
            <a:endParaRPr lang="en-US" sz="1250" dirty="0"/>
          </a:p>
        </p:txBody>
      </p:sp>
      <p:sp>
        <p:nvSpPr>
          <p:cNvPr id="37" name="Shape 30"/>
          <p:cNvSpPr/>
          <p:nvPr/>
        </p:nvSpPr>
        <p:spPr>
          <a:xfrm>
            <a:off x="4690872" y="5367528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E8862D"/>
          </a:solidFill>
          <a:ln/>
        </p:spPr>
      </p:sp>
      <p:sp>
        <p:nvSpPr>
          <p:cNvPr id="38" name="Text 31"/>
          <p:cNvSpPr/>
          <p:nvPr/>
        </p:nvSpPr>
        <p:spPr>
          <a:xfrm>
            <a:off x="4690872" y="5367528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000" dirty="0"/>
          </a:p>
        </p:txBody>
      </p:sp>
      <p:sp>
        <p:nvSpPr>
          <p:cNvPr id="39" name="Shape 32"/>
          <p:cNvSpPr/>
          <p:nvPr/>
        </p:nvSpPr>
        <p:spPr>
          <a:xfrm>
            <a:off x="8229600" y="388620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F0F5E9"/>
          </a:solidFill>
          <a:ln/>
        </p:spPr>
      </p:sp>
      <p:sp>
        <p:nvSpPr>
          <p:cNvPr id="40" name="Shape 33"/>
          <p:cNvSpPr/>
          <p:nvPr/>
        </p:nvSpPr>
        <p:spPr>
          <a:xfrm>
            <a:off x="8458200" y="4114800"/>
            <a:ext cx="530352" cy="53035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7529" y="4234129"/>
            <a:ext cx="291694" cy="291694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9144000" y="4123944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públicos</a:t>
            </a:r>
            <a:endParaRPr lang="en-US" sz="1650" dirty="0"/>
          </a:p>
        </p:txBody>
      </p:sp>
      <p:sp>
        <p:nvSpPr>
          <p:cNvPr id="43" name="Text 35"/>
          <p:cNvSpPr/>
          <p:nvPr/>
        </p:nvSpPr>
        <p:spPr>
          <a:xfrm>
            <a:off x="8485632" y="480060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7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CEASA histórico + clima</a:t>
            </a:r>
            <a:endParaRPr lang="en-US" sz="1250" dirty="0"/>
          </a:p>
        </p:txBody>
      </p:sp>
      <p:sp>
        <p:nvSpPr>
          <p:cNvPr id="44" name="Shape 36"/>
          <p:cNvSpPr/>
          <p:nvPr/>
        </p:nvSpPr>
        <p:spPr>
          <a:xfrm>
            <a:off x="8485632" y="5367528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3E6B2F"/>
          </a:solidFill>
          <a:ln/>
        </p:spPr>
      </p:sp>
      <p:sp>
        <p:nvSpPr>
          <p:cNvPr id="45" name="Text 37"/>
          <p:cNvSpPr/>
          <p:nvPr/>
        </p:nvSpPr>
        <p:spPr>
          <a:xfrm>
            <a:off x="8485632" y="5367528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GRÁTIS</a:t>
            </a:r>
            <a:endParaRPr lang="en-US" sz="1000" dirty="0"/>
          </a:p>
        </p:txBody>
      </p:sp>
      <p:sp>
        <p:nvSpPr>
          <p:cNvPr id="46" name="Shape 38"/>
          <p:cNvSpPr/>
          <p:nvPr/>
        </p:nvSpPr>
        <p:spPr>
          <a:xfrm>
            <a:off x="640080" y="6053328"/>
            <a:ext cx="11155680" cy="566928"/>
          </a:xfrm>
          <a:prstGeom prst="roundRect">
            <a:avLst>
              <a:gd name="adj" fmla="val 16129"/>
            </a:avLst>
          </a:prstGeom>
          <a:solidFill>
            <a:srgbClr val="27431F"/>
          </a:solidFill>
          <a:ln/>
        </p:spPr>
      </p:sp>
      <p:pic>
        <p:nvPicPr>
          <p:cNvPr id="4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6181344"/>
            <a:ext cx="310896" cy="310896"/>
          </a:xfrm>
          <a:prstGeom prst="rect">
            <a:avLst/>
          </a:prstGeom>
        </p:spPr>
      </p:pic>
      <p:sp>
        <p:nvSpPr>
          <p:cNvPr id="48" name="Text 39"/>
          <p:cNvSpPr/>
          <p:nvPr/>
        </p:nvSpPr>
        <p:spPr>
          <a:xfrm>
            <a:off x="1371600" y="605332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Orçamento total de tempo do Nivaldo: menos de 2 minutos por dia — e a regra da casa permite 3.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32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pipeline em uma vista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58368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etapa nomeia a técnica — como o desafio pede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1155680" cy="969264"/>
          </a:xfrm>
          <a:prstGeom prst="roundRect">
            <a:avLst>
              <a:gd name="adj" fmla="val 8491"/>
            </a:avLst>
          </a:prstGeom>
          <a:solidFill>
            <a:srgbClr val="F0F5E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0934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E6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22960" y="1883664"/>
            <a:ext cx="16840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23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Romaneio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644140" y="1883664"/>
            <a:ext cx="16840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23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Prateleira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465320" y="1883664"/>
            <a:ext cx="16840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23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Caixote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86500" y="1883664"/>
            <a:ext cx="16840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23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107680" y="1883664"/>
            <a:ext cx="16840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23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Balança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928860" y="1883664"/>
            <a:ext cx="16840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23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2560320"/>
            <a:ext cx="0" cy="274320"/>
          </a:xfrm>
          <a:prstGeom prst="line">
            <a:avLst/>
          </a:prstGeom>
          <a:noFill/>
          <a:ln w="22225">
            <a:solidFill>
              <a:srgbClr val="6B726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40080" y="2907792"/>
            <a:ext cx="11155680" cy="969264"/>
          </a:xfrm>
          <a:prstGeom prst="roundRect">
            <a:avLst>
              <a:gd name="adj" fmla="val 8491"/>
            </a:avLst>
          </a:prstGeom>
          <a:solidFill>
            <a:srgbClr val="97BC62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96265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E6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PRÉ-PROCESSAMENTO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22960" y="3236976"/>
            <a:ext cx="16840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274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+ record linkage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44140" y="3236976"/>
            <a:ext cx="16840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274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Segmentação + cor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65320" y="3236976"/>
            <a:ext cx="16840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274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Rotulagem por causa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86500" y="3236976"/>
            <a:ext cx="16840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274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 + intenção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107680" y="3236976"/>
            <a:ext cx="16840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274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de PLU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928860" y="3236976"/>
            <a:ext cx="16840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274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Séries temporais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3913632"/>
            <a:ext cx="0" cy="274320"/>
          </a:xfrm>
          <a:prstGeom prst="line">
            <a:avLst/>
          </a:prstGeom>
          <a:noFill/>
          <a:ln w="22225">
            <a:solidFill>
              <a:srgbClr val="6B7263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40080" y="4261104"/>
            <a:ext cx="11155680" cy="969264"/>
          </a:xfrm>
          <a:prstGeom prst="roundRect">
            <a:avLst>
              <a:gd name="adj" fmla="val 8491"/>
            </a:avLst>
          </a:prstGeom>
          <a:solidFill>
            <a:srgbClr val="3E6B2F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431596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AF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INTELIGENTES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22960" y="4590288"/>
            <a:ext cx="350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de resposta (RAG few-shot)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465320" y="4590288"/>
            <a:ext cx="350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Sobrevivência: hazard diário por lote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107680" y="4590288"/>
            <a:ext cx="350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oferta (valor esperado + uplift)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217920" y="5266944"/>
            <a:ext cx="0" cy="274320"/>
          </a:xfrm>
          <a:prstGeom prst="line">
            <a:avLst/>
          </a:prstGeom>
          <a:noFill/>
          <a:ln w="22225">
            <a:solidFill>
              <a:srgbClr val="6B7263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40080" y="5614416"/>
            <a:ext cx="11155680" cy="969264"/>
          </a:xfrm>
          <a:prstGeom prst="roundRect">
            <a:avLst>
              <a:gd name="adj" fmla="val 8491"/>
            </a:avLst>
          </a:prstGeom>
          <a:solidFill>
            <a:srgbClr val="E8862D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566928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AF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AÇÕES NO WHATSAPP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22960" y="5943600"/>
            <a:ext cx="350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o cliente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465320" y="5943600"/>
            <a:ext cx="350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do CEASA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107680" y="5943600"/>
            <a:ext cx="350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 segmentada (1 toque)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40080" y="6986016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6B7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 O caixote e a reação dos clientes voltam como rótulo no dia seguinte — coleta enquanto soluciona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3E6B2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· ATO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32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Sexta, 4h30 — nasce o lote</a:t>
            </a:r>
            <a:endParaRPr lang="en-US" sz="3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4754880" cy="3657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5157216"/>
            <a:ext cx="2651760" cy="237744"/>
          </a:xfrm>
          <a:prstGeom prst="roundRect">
            <a:avLst>
              <a:gd name="adj" fmla="val 50000"/>
            </a:avLst>
          </a:prstGeom>
          <a:solidFill>
            <a:srgbClr val="FFFFFF">
              <a:alpha val="78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515721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ilustração · trocar pela foto real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577840" y="3657600"/>
            <a:ext cx="685800" cy="0"/>
          </a:xfrm>
          <a:prstGeom prst="line">
            <a:avLst/>
          </a:prstGeom>
          <a:noFill/>
          <a:ln w="22225">
            <a:solidFill>
              <a:srgbClr val="6B7263"/>
            </a:solidFill>
            <a:prstDash val="solid"/>
            <a:tailEnd type="triangle"/>
          </a:ln>
        </p:spPr>
      </p:sp>
      <p:sp>
        <p:nvSpPr>
          <p:cNvPr id="9" name="Text 6"/>
          <p:cNvSpPr/>
          <p:nvPr/>
        </p:nvSpPr>
        <p:spPr>
          <a:xfrm>
            <a:off x="5349240" y="29260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+ parsing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6B7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segundos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446520" y="1828800"/>
            <a:ext cx="5074920" cy="3017520"/>
          </a:xfrm>
          <a:prstGeom prst="roundRect">
            <a:avLst>
              <a:gd name="adj" fmla="val 3030"/>
            </a:avLst>
          </a:prstGeom>
          <a:solidFill>
            <a:srgbClr val="F0F5E9"/>
          </a:solidFill>
          <a:ln/>
        </p:spPr>
      </p:sp>
      <p:sp>
        <p:nvSpPr>
          <p:cNvPr id="11" name="Text 8"/>
          <p:cNvSpPr/>
          <p:nvPr/>
        </p:nvSpPr>
        <p:spPr>
          <a:xfrm>
            <a:off x="6675120" y="196596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6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sistema extrai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675120" y="239572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366760" y="2395728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Qtd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509760" y="239572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744200" y="239572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675120" y="2724912"/>
            <a:ext cx="4617720" cy="0"/>
          </a:xfrm>
          <a:prstGeom prst="line">
            <a:avLst/>
          </a:prstGeom>
          <a:noFill/>
          <a:ln w="12700">
            <a:solidFill>
              <a:srgbClr val="97BC6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675120" y="2798064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Manga tommy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366760" y="2798064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kg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509760" y="2798064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R$ 3,10/kg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0744200" y="2798064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12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675120" y="320040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Tomate italiano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366760" y="3200400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cx (20 kg)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9509760" y="320040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R$ 2,25/kg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0744200" y="320040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30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675120" y="3602736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Mamão formosa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8366760" y="3602736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kg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9509760" y="3602736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R$ 2,80/kg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10744200" y="3602736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07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446520" y="5029200"/>
            <a:ext cx="5074920" cy="1051560"/>
          </a:xfrm>
          <a:prstGeom prst="roundRect">
            <a:avLst>
              <a:gd name="adj" fmla="val 8696"/>
            </a:avLst>
          </a:prstGeom>
          <a:solidFill>
            <a:srgbClr val="27431F"/>
          </a:solidFill>
          <a:ln/>
        </p:spPr>
      </p:sp>
      <p:sp>
        <p:nvSpPr>
          <p:cNvPr id="30" name="Text 27"/>
          <p:cNvSpPr/>
          <p:nvPr/>
        </p:nvSpPr>
        <p:spPr>
          <a:xfrm>
            <a:off x="6675120" y="512064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t₀ do lote registrado. </a:t>
            </a:r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D8E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relógio da vida de prateleira da manga começa a contar — próximo CEASA: segunda.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3E6B2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· ATO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Sábado e domingo — o sistema enxerga o risco</a:t>
            </a:r>
            <a:endParaRPr lang="en-US" sz="3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2606040" cy="1965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3465576"/>
            <a:ext cx="2423160" cy="237744"/>
          </a:xfrm>
          <a:prstGeom prst="roundRect">
            <a:avLst>
              <a:gd name="adj" fmla="val 50000"/>
            </a:avLst>
          </a:prstGeom>
          <a:solidFill>
            <a:srgbClr val="FFFFFF">
              <a:alpha val="78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3465576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ilustração · trocar pela foto real</a:t>
            </a:r>
            <a:endParaRPr lang="en-US" sz="8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069080"/>
            <a:ext cx="2606040" cy="196596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31520" y="5705856"/>
            <a:ext cx="2423160" cy="237744"/>
          </a:xfrm>
          <a:prstGeom prst="roundRect">
            <a:avLst>
              <a:gd name="adj" fmla="val 50000"/>
            </a:avLst>
          </a:prstGeom>
          <a:solidFill>
            <a:srgbClr val="FFFFFF">
              <a:alpha val="78000"/>
            </a:srgbClr>
          </a:solidFill>
          <a:ln/>
        </p:spPr>
      </p:sp>
      <p:sp>
        <p:nvSpPr>
          <p:cNvPr id="10" name="Text 6"/>
          <p:cNvSpPr/>
          <p:nvPr/>
        </p:nvSpPr>
        <p:spPr>
          <a:xfrm>
            <a:off x="731520" y="5705856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ilustração · trocar pela foto real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3291840" y="356616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ângulo,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6B7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dias</a:t>
            </a:r>
            <a:endParaRPr lang="en-US" sz="105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4480560" y="1828800"/>
          <a:ext cx="704088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Shape 8"/>
          <p:cNvSpPr/>
          <p:nvPr/>
        </p:nvSpPr>
        <p:spPr>
          <a:xfrm>
            <a:off x="4480560" y="5623560"/>
            <a:ext cx="7040880" cy="777240"/>
          </a:xfrm>
          <a:prstGeom prst="roundRect">
            <a:avLst>
              <a:gd name="adj" fmla="val 11765"/>
            </a:avLst>
          </a:prstGeom>
          <a:solidFill>
            <a:srgbClr val="FCEFDF"/>
          </a:solidFill>
          <a:ln/>
        </p:spPr>
      </p:sp>
      <p:sp>
        <p:nvSpPr>
          <p:cNvPr id="14" name="Text 9"/>
          <p:cNvSpPr/>
          <p:nvPr/>
        </p:nvSpPr>
        <p:spPr>
          <a:xfrm>
            <a:off x="4709160" y="562356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B85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Sábado 6:30 a curva cruza o limiar → oferta dispara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3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a manga ainda no estágio 2 — vendável, não desesperada.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3E6B2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· ATO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32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oferta sai no zap — no tom dele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394960" cy="4297680"/>
          </a:xfrm>
          <a:prstGeom prst="roundRect">
            <a:avLst>
              <a:gd name="adj" fmla="val 2553"/>
            </a:avLst>
          </a:prstGeom>
          <a:solidFill>
            <a:srgbClr val="F0F5E9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9339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6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 2 · aprovação de 1 toque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2468880"/>
            <a:ext cx="457200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578608"/>
            <a:ext cx="4206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6B7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→ Nivaldo
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3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“Manga tommy: 30% de risco de perda até 2ª. Sugiro oferta a R$ 4,90 (era 6,50) pros 37 clientes que compram manga. Mando?”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4400" y="4251960"/>
            <a:ext cx="1481328" cy="365760"/>
          </a:xfrm>
          <a:prstGeom prst="roundRect">
            <a:avLst>
              <a:gd name="adj" fmla="val 50000"/>
            </a:avLst>
          </a:prstGeom>
          <a:solidFill>
            <a:srgbClr val="3E6B2F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25196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14600" y="4251960"/>
            <a:ext cx="1481328" cy="365760"/>
          </a:xfrm>
          <a:prstGeom prst="roundRect">
            <a:avLst>
              <a:gd name="adj" fmla="val 50000"/>
            </a:avLst>
          </a:prstGeom>
          <a:solidFill>
            <a:srgbClr val="97BC62"/>
          </a:solidFill>
          <a:ln/>
        </p:spPr>
      </p:sp>
      <p:sp>
        <p:nvSpPr>
          <p:cNvPr id="12" name="Text 10"/>
          <p:cNvSpPr/>
          <p:nvPr/>
        </p:nvSpPr>
        <p:spPr>
          <a:xfrm>
            <a:off x="2514600" y="425196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MUDAR PREÇO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0" y="4251960"/>
            <a:ext cx="1481328" cy="365760"/>
          </a:xfrm>
          <a:prstGeom prst="roundRect">
            <a:avLst>
              <a:gd name="adj" fmla="val 50000"/>
            </a:avLst>
          </a:prstGeom>
          <a:solidFill>
            <a:srgbClr val="C7CDBD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0" y="425196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PULAR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14400" y="4892040"/>
            <a:ext cx="4572000" cy="960120"/>
          </a:xfrm>
          <a:prstGeom prst="roundRect">
            <a:avLst>
              <a:gd name="adj" fmla="val 11429"/>
            </a:avLst>
          </a:prstGeom>
          <a:solidFill>
            <a:srgbClr val="27431F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4956048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toque = oferta enviada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8E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pra quem compra manga — e o toque vira rótulo que treina o modelo.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63640" y="1828800"/>
            <a:ext cx="5394960" cy="4297680"/>
          </a:xfrm>
          <a:prstGeom prst="roundRect">
            <a:avLst>
              <a:gd name="adj" fmla="val 2553"/>
            </a:avLst>
          </a:prstGeom>
          <a:solidFill>
            <a:srgbClr val="FCEFDF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199339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 1 · resposta automática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537960" y="2468880"/>
            <a:ext cx="393192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6720840" y="256032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6B7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· 9:12
</a:t>
            </a:r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23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“bom dia, tem manga boa?”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178040" y="3429000"/>
            <a:ext cx="4206240" cy="1371600"/>
          </a:xfrm>
          <a:prstGeom prst="roundRect">
            <a:avLst>
              <a:gd name="adj" fmla="val 8000"/>
            </a:avLst>
          </a:prstGeom>
          <a:solidFill>
            <a:srgbClr val="DDEED0"/>
          </a:solidFill>
          <a:ln/>
        </p:spPr>
      </p:sp>
      <p:sp>
        <p:nvSpPr>
          <p:cNvPr id="22" name="Text 20"/>
          <p:cNvSpPr/>
          <p:nvPr/>
        </p:nvSpPr>
        <p:spPr>
          <a:xfrm>
            <a:off x="7360920" y="3538728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3E6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em 4 s · ancorada no estoque real
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3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“Bom dia! Tem sim, a tommy tá docinha e hoje tá em oferta: 4,90 o quilo. Separo pra você?”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537960" y="4892040"/>
            <a:ext cx="4572000" cy="960120"/>
          </a:xfrm>
          <a:prstGeom prst="roundRect">
            <a:avLst>
              <a:gd name="adj" fmla="val 11429"/>
            </a:avLst>
          </a:prstGeom>
          <a:solidFill>
            <a:srgbClr val="E8862D"/>
          </a:solidFill>
          <a:ln/>
        </p:spPr>
      </p:sp>
      <p:sp>
        <p:nvSpPr>
          <p:cNvPr id="24" name="Text 22"/>
          <p:cNvSpPr/>
          <p:nvPr/>
        </p:nvSpPr>
        <p:spPr>
          <a:xfrm>
            <a:off x="6720840" y="4956048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no tom do Nivaldo: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DE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 vem das respostas antigas dele; fatos vêm do estado do dia. Sem inventar estoque.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3E6B2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· EPÍLOGO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Segunda, 6h30 — o caixote conta outra história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3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240280"/>
            <a:ext cx="3108960" cy="23774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4288536"/>
            <a:ext cx="2651760" cy="237744"/>
          </a:xfrm>
          <a:prstGeom prst="roundRect">
            <a:avLst>
              <a:gd name="adj" fmla="val 50000"/>
            </a:avLst>
          </a:prstGeom>
          <a:solidFill>
            <a:srgbClr val="FFFFFF">
              <a:alpha val="78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428853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ilustração · trocar pela foto real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977640" y="3429000"/>
            <a:ext cx="640080" cy="0"/>
          </a:xfrm>
          <a:prstGeom prst="line">
            <a:avLst/>
          </a:prstGeom>
          <a:noFill/>
          <a:ln w="22225">
            <a:solidFill>
              <a:srgbClr val="6B7263"/>
            </a:solidFill>
            <a:prstDash val="solid"/>
            <a:tailEnd type="triangle"/>
          </a:ln>
        </p:spPr>
      </p:sp>
      <p:sp>
        <p:nvSpPr>
          <p:cNvPr id="10" name="Text 7"/>
          <p:cNvSpPr/>
          <p:nvPr/>
        </p:nvSpPr>
        <p:spPr>
          <a:xfrm>
            <a:off x="4846320" y="1828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E6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240280"/>
            <a:ext cx="3108960" cy="23774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937760" y="4288536"/>
            <a:ext cx="2651760" cy="237744"/>
          </a:xfrm>
          <a:prstGeom prst="roundRect">
            <a:avLst>
              <a:gd name="adj" fmla="val 50000"/>
            </a:avLst>
          </a:prstGeom>
          <a:solidFill>
            <a:srgbClr val="FFFFFF">
              <a:alpha val="78000"/>
            </a:srgbClr>
          </a:solidFill>
          <a:ln/>
        </p:spPr>
      </p:sp>
      <p:sp>
        <p:nvSpPr>
          <p:cNvPr id="13" name="Text 9"/>
          <p:cNvSpPr/>
          <p:nvPr/>
        </p:nvSpPr>
        <p:spPr>
          <a:xfrm>
            <a:off x="4937760" y="428853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ilustração · trocar pela foto real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8366760" y="1828800"/>
            <a:ext cx="3200400" cy="2788920"/>
          </a:xfrm>
          <a:prstGeom prst="roundRect">
            <a:avLst>
              <a:gd name="adj" fmla="val 3934"/>
            </a:avLst>
          </a:prstGeom>
          <a:solidFill>
            <a:srgbClr val="27431F"/>
          </a:solidFill>
          <a:ln/>
        </p:spPr>
      </p:sp>
      <p:sp>
        <p:nvSpPr>
          <p:cNvPr id="15" name="Text 11"/>
          <p:cNvSpPr/>
          <p:nvPr/>
        </p:nvSpPr>
        <p:spPr>
          <a:xfrm>
            <a:off x="8595360" y="19933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semanal no zap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8595360" y="23774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R$ 340</a:t>
            </a:r>
            <a:endParaRPr lang="en-US" sz="4400" dirty="0"/>
          </a:p>
        </p:txBody>
      </p:sp>
      <p:sp>
        <p:nvSpPr>
          <p:cNvPr id="17" name="Text 13"/>
          <p:cNvSpPr/>
          <p:nvPr/>
        </p:nvSpPr>
        <p:spPr>
          <a:xfrm>
            <a:off x="8595360" y="3200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E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perda evitada nesta semana*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8595360" y="36118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D8E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fechamento do dia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D8E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quebra invisível do mês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40080" y="5074920"/>
            <a:ext cx="10927080" cy="1051560"/>
          </a:xfrm>
          <a:prstGeom prst="roundRect">
            <a:avLst>
              <a:gd name="adj" fmla="val 8696"/>
            </a:avLst>
          </a:prstGeom>
          <a:solidFill>
            <a:srgbClr val="F0F5E9"/>
          </a:solidFill>
          <a:ln/>
        </p:spPr>
      </p:sp>
      <p:sp>
        <p:nvSpPr>
          <p:cNvPr id="20" name="Text 16"/>
          <p:cNvSpPr/>
          <p:nvPr/>
        </p:nvSpPr>
        <p:spPr>
          <a:xfrm>
            <a:off x="914400" y="5138928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3E6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esse número que renova a assinatura: </a:t>
            </a:r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23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Nivaldo não compra IA — compra caixote vazio. (*valor ilustrativo; o real sai do backtest com os dados dele)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32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“E como funciona sem histórico?”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58368" y="117043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que os jurados vão fazer — e a resposta em três fases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611880" cy="4160520"/>
          </a:xfrm>
          <a:prstGeom prst="roundRect">
            <a:avLst>
              <a:gd name="adj" fmla="val 3038"/>
            </a:avLst>
          </a:prstGeom>
          <a:solidFill>
            <a:srgbClr val="3E6B2F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2039112"/>
            <a:ext cx="548640" cy="548640"/>
          </a:xfrm>
          <a:prstGeom prst="ellipse">
            <a:avLst/>
          </a:prstGeom>
          <a:solidFill>
            <a:srgbClr val="27431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" y="2162556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72768" y="20574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· dia 1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14400" y="2834640"/>
            <a:ext cx="30632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o celular dele — nada de hardware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público (CEASA + vida útil) e regras de domínio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já responde; oferta por regra grosseira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toque de 1 clique = rótulo (active learning)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16552" y="1783080"/>
            <a:ext cx="3611880" cy="4160520"/>
          </a:xfrm>
          <a:prstGeom prst="roundRect">
            <a:avLst>
              <a:gd name="adj" fmla="val 3038"/>
            </a:avLst>
          </a:prstGeom>
          <a:solidFill>
            <a:srgbClr val="E8862D"/>
          </a:solidFill>
          <a:ln/>
        </p:spPr>
      </p:sp>
      <p:sp>
        <p:nvSpPr>
          <p:cNvPr id="10" name="Shape 7"/>
          <p:cNvSpPr/>
          <p:nvPr/>
        </p:nvSpPr>
        <p:spPr>
          <a:xfrm>
            <a:off x="4672584" y="2039112"/>
            <a:ext cx="548640" cy="548640"/>
          </a:xfrm>
          <a:prstGeom prst="ellipse">
            <a:avLst/>
          </a:prstGeom>
          <a:solidFill>
            <a:srgbClr val="B85E1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6028" y="2162556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49240" y="20574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· ~6 semanas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690872" y="2834640"/>
            <a:ext cx="30632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DE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treinado pelos caixotes reais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DE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Balança conectada: giro por hora, balanço de massa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DE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 com valor esperado + segmentação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DE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 semanal decide cada versão nova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93024" y="1783080"/>
            <a:ext cx="3611880" cy="4160520"/>
          </a:xfrm>
          <a:prstGeom prst="roundRect">
            <a:avLst>
              <a:gd name="adj" fmla="val 3038"/>
            </a:avLst>
          </a:prstGeom>
          <a:solidFill>
            <a:srgbClr val="5F5E5A"/>
          </a:solidFill>
          <a:ln/>
        </p:spPr>
      </p:sp>
      <p:sp>
        <p:nvSpPr>
          <p:cNvPr id="15" name="Shape 11"/>
          <p:cNvSpPr/>
          <p:nvPr/>
        </p:nvSpPr>
        <p:spPr>
          <a:xfrm>
            <a:off x="8449056" y="2039112"/>
            <a:ext cx="548640" cy="548640"/>
          </a:xfrm>
          <a:prstGeom prst="ellipse">
            <a:avLst/>
          </a:prstGeom>
          <a:solidFill>
            <a:srgbClr val="44444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2162556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25712" y="20574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· opcional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467344" y="2834640"/>
            <a:ext cx="30632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6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Câmera olhando a prateleira — não a rua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6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com pessoa é descartado no dispositivo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6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Estoque de hora em hora, giro intradiário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6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biometria, zero dado pessoal</a:t>
            </a:r>
            <a:endParaRPr lang="en-US" sz="125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6172200"/>
            <a:ext cx="274320" cy="27432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640080" y="6108192"/>
            <a:ext cx="0" cy="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21" name="Text 15"/>
          <p:cNvSpPr/>
          <p:nvPr/>
        </p:nvSpPr>
        <p:spPr>
          <a:xfrm>
            <a:off x="1024128" y="6108192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3E6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existe “fase de coleta” separada: o sistema coleta enquanto soluciona — restrição 2 da casa, resolvida por desenho.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74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é só o Nivaldo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58368" y="13716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8E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micro-varejista de perecível tem a mesma estrutura: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395728" cy="731520"/>
          </a:xfrm>
          <a:prstGeom prst="roundRect">
            <a:avLst>
              <a:gd name="adj" fmla="val 12500"/>
            </a:avLst>
          </a:prstGeom>
          <a:solidFill>
            <a:srgbClr val="35542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65960"/>
            <a:ext cx="2395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 no atacado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3090672" y="2331720"/>
            <a:ext cx="274320" cy="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419856" y="1965960"/>
            <a:ext cx="2395728" cy="731520"/>
          </a:xfrm>
          <a:prstGeom prst="roundRect">
            <a:avLst>
              <a:gd name="adj" fmla="val 12500"/>
            </a:avLst>
          </a:prstGeom>
          <a:solidFill>
            <a:srgbClr val="355426"/>
          </a:solidFill>
          <a:ln/>
        </p:spPr>
      </p:sp>
      <p:sp>
        <p:nvSpPr>
          <p:cNvPr id="8" name="Text 6"/>
          <p:cNvSpPr/>
          <p:nvPr/>
        </p:nvSpPr>
        <p:spPr>
          <a:xfrm>
            <a:off x="3419856" y="1965960"/>
            <a:ext cx="2395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 no olho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870448" y="2331720"/>
            <a:ext cx="274320" cy="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199632" y="1965960"/>
            <a:ext cx="2395728" cy="731520"/>
          </a:xfrm>
          <a:prstGeom prst="roundRect">
            <a:avLst>
              <a:gd name="adj" fmla="val 12500"/>
            </a:avLst>
          </a:prstGeom>
          <a:solidFill>
            <a:srgbClr val="355426"/>
          </a:solidFill>
          <a:ln/>
        </p:spPr>
      </p:sp>
      <p:sp>
        <p:nvSpPr>
          <p:cNvPr id="11" name="Text 9"/>
          <p:cNvSpPr/>
          <p:nvPr/>
        </p:nvSpPr>
        <p:spPr>
          <a:xfrm>
            <a:off x="6199632" y="1965960"/>
            <a:ext cx="2395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Perde no caixote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650224" y="2331720"/>
            <a:ext cx="274320" cy="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979408" y="1965960"/>
            <a:ext cx="2395728" cy="731520"/>
          </a:xfrm>
          <a:prstGeom prst="roundRect">
            <a:avLst>
              <a:gd name="adj" fmla="val 12500"/>
            </a:avLst>
          </a:prstGeom>
          <a:solidFill>
            <a:srgbClr val="355426"/>
          </a:solidFill>
          <a:ln/>
        </p:spPr>
      </p:sp>
      <p:sp>
        <p:nvSpPr>
          <p:cNvPr id="14" name="Text 12"/>
          <p:cNvSpPr/>
          <p:nvPr/>
        </p:nvSpPr>
        <p:spPr>
          <a:xfrm>
            <a:off x="8979408" y="1965960"/>
            <a:ext cx="2395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Vive no zap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58368" y="29260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pipeline é o mesmo — só troca o vocabulário de produtos. Açougue, padaria, floricultura, peixaria.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65760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355426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931920"/>
            <a:ext cx="457200" cy="4572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554480" y="391363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cobrança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914400" y="45262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D8E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Assinatura mensal menor que a perda evitada — o relatório semanal prova o ROI todo mês, em reais.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263640" y="365760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E8862D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3931920"/>
            <a:ext cx="457200" cy="45720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178040" y="391363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perguntarem da câmera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6537960" y="45262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FDE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“Escolhemos a tecnologia que olha pra fruta, não pra pessoa. Fruta é o que estraga — e fruta não tem LGPD.”</a:t>
            </a:r>
            <a:endParaRPr lang="en-US" sz="1350" dirty="0"/>
          </a:p>
        </p:txBody>
      </p:sp>
      <p:sp>
        <p:nvSpPr>
          <p:cNvPr id="24" name="Text 20"/>
          <p:cNvSpPr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 — perguntas?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2026-07-24T20:19:35Z</dcterms:created>
  <dcterms:modified xsi:type="dcterms:W3CDTF">2026-07-24T20:19:35Z</dcterms:modified>
</cp:coreProperties>
</file>