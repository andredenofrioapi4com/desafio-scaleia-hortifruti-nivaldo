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B1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32B1C"/>
                </a:solidFill>
                <a:latin typeface="Arial"/>
              </a:rPr>
              <a:t>Risco acumulado do lote de manga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P(perda antes de 2ª)</c:v>
                </c:pt>
              </c:strCache>
            </c:strRef>
          </c:tx>
          <c:spPr>
            <a:solidFill>
              <a:srgbClr val="E8862D"/>
            </a:solidFill>
            <a:ln w="38100" cap="flat">
              <a:solidFill>
                <a:srgbClr val="E886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85E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862D"/>
              </a:solidFill>
              <a:ln w="9525" cap="flat">
                <a:solidFill>
                  <a:srgbClr val="E886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Sex</c:v>
                  </c:pt>
                  <c:pt idx="1">
                    <c:v>Sáb 6:30</c:v>
                  </c:pt>
                  <c:pt idx="2">
                    <c:v>Dom</c:v>
                  </c:pt>
                  <c:pt idx="3">
                    <c:v>Seg (CEASA)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30</c:v>
                </c:pt>
                <c:pt idx="2">
                  <c:v>62</c:v>
                </c:pt>
                <c:pt idx="3">
                  <c:v>90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Limiar de disparo</c:v>
                </c:pt>
              </c:strCache>
            </c:strRef>
          </c:tx>
          <c:spPr>
            <a:solidFill>
              <a:srgbClr val="6B7263"/>
            </a:solidFill>
            <a:ln w="38100" cap="flat">
              <a:solidFill>
                <a:srgbClr val="6B72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85E12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63"/>
              </a:solidFill>
              <a:ln w="9525" cap="flat">
                <a:solidFill>
                  <a:srgbClr val="6B72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Sex</c:v>
                  </c:pt>
                  <c:pt idx="1">
                    <c:v>Sáb 6:30</c:v>
                  </c:pt>
                  <c:pt idx="2">
                    <c:v>Dom</c:v>
                  </c:pt>
                  <c:pt idx="3">
                    <c:v>Seg (CEASA)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B85E12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4E8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foto da fachada. Uma frase: hoje vamos mostrar como o proprio Nivaldo, sem saber, ja produz todos os dados de que a solucao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a rotina apontando as fotos. Frase-chave: nao vamos pedir nada novo pra ele — reparem que cada momento do dia ja gera um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solucao neste slide. So a dor, com foto real. Se tiverem numero real de perda semanal em reais, falar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mais importante. Pausa antes e depois da frase-titulo. E aqui que o jurado decide prestar atencao.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Apontar os selos: cinco das seis fontes ja existem ou sao gratuitas. So a balanca e compra — e e fase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Narrar de cima pra baixo em 60 segundos. Nao ler as caixas: apontar que toda etapa e uma tecnica nomeada, exigencia do edital.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foto de 15 segundos e o unico gesto novo do dia de CEASA. Record linkage: TOM ITAL vira tomate italiano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tecnico pra arguicao: nao e classificacao fresca vs podre — e analise de sobrevivencia. O sistema dispara ANTES do estrago, olhando trajetoria + calendario do CEASA.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dores do edital resolvidas na mesma tela. Se der, substituir os moques por prints reais encenados com o feirante.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emocional do caso: mesma foto, outro conteudo. O relatorio e o argumento de retencao.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de sazonalidade sem anos de dado: prior hierarquico com series publicas do CEASA — o modelo comeca apoiado no mercado e ganha personalidade com o historico do Nivaldo.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frase da camera so se sobrar folego ou se perguntarem. Deixar a arguicao aberta — o glossario e a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822960"/>
            <a:ext cx="4023360" cy="5212080"/>
          </a:xfrm>
          <a:prstGeom prst="roundRect">
            <a:avLst>
              <a:gd name="adj" fmla="val 2045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308592" y="313639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34107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 da banca do Nivaldo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caixote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Nivaldo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58368" y="3886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hortifruti de esquina vira uma operação orientada a dados —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planilha, sem PDV e sem 3 minutos a mais no dia dele.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008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Sebrae Startups · AppScale IA · 24 jul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dia na vida do Nivaldo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já existe. A solução entra nela — não mexe nela.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10360152" cy="0"/>
          </a:xfrm>
          <a:prstGeom prst="line">
            <a:avLst/>
          </a:prstGeom>
          <a:noFill/>
          <a:ln w="317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1348" y="2029968"/>
            <a:ext cx="603504" cy="603504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189" y="2174809"/>
            <a:ext cx="313822" cy="3138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4:00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3×/semana e sai com o romaneio na mão (Seg · Qua · Sex)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6112" y="4434840"/>
            <a:ext cx="2093976" cy="1417320"/>
          </a:xfrm>
          <a:prstGeom prst="roundRect">
            <a:avLst>
              <a:gd name="adj" fmla="val 580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787652" y="48508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125212"/>
            <a:ext cx="20939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 na mão dele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75988" y="2029968"/>
            <a:ext cx="603504" cy="603504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829" y="2174809"/>
            <a:ext cx="313822" cy="3138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7472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6:30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47472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 + fotos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56616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que passou do ponto e fotografa a prateleira pro grupo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730752" y="4434840"/>
            <a:ext cx="2093976" cy="1417320"/>
          </a:xfrm>
          <a:prstGeom prst="roundRect">
            <a:avLst>
              <a:gd name="adj" fmla="val 580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622292" y="48508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730752" y="5125212"/>
            <a:ext cx="20939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de frente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310628" y="2029968"/>
            <a:ext cx="603504" cy="603504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469" y="2174809"/>
            <a:ext cx="313822" cy="31382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0936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6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630936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no olho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40080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cabeça, maquininha só mostra o total, gaveta de dinheiro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565392" y="4434840"/>
            <a:ext cx="2093976" cy="1417320"/>
          </a:xfrm>
          <a:prstGeom prst="roundRect">
            <a:avLst>
              <a:gd name="adj" fmla="val 580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456932" y="485089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65392" y="5125212"/>
            <a:ext cx="20939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em funcionamento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10145268" y="2029968"/>
            <a:ext cx="603504" cy="603504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0109" y="2174809"/>
            <a:ext cx="313822" cy="31382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0" y="27157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tarde</a:t>
            </a:r>
            <a:endParaRPr lang="en-US" sz="1900" dirty="0"/>
          </a:p>
        </p:txBody>
      </p:sp>
      <p:sp>
        <p:nvSpPr>
          <p:cNvPr id="32" name="Text 23"/>
          <p:cNvSpPr/>
          <p:nvPr/>
        </p:nvSpPr>
        <p:spPr>
          <a:xfrm>
            <a:off x="9144000" y="30815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no zap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9235440" y="344728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percebe que a fruta vai perder, manda oferta pro grupo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9400032" y="4434840"/>
            <a:ext cx="2093976" cy="1417320"/>
          </a:xfrm>
          <a:prstGeom prst="roundRect">
            <a:avLst>
              <a:gd name="adj" fmla="val 580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10291572" y="4850892"/>
            <a:ext cx="310896" cy="31089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00032" y="5125212"/>
            <a:ext cx="20939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 grupo (~200)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dores que ele paga pra resolver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0F5E9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737360"/>
            <a:ext cx="566928" cy="566928"/>
          </a:xfrm>
          <a:prstGeom prst="ellipse">
            <a:avLst/>
          </a:prstGeom>
          <a:solidFill>
            <a:srgbClr val="3E6B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183" y="187342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556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sem resposta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960120" y="2514600"/>
            <a:ext cx="4754880" cy="2103120"/>
          </a:xfrm>
          <a:prstGeom prst="roundRect">
            <a:avLst>
              <a:gd name="adj" fmla="val 3913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182112" y="327355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54787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cliente pergunta “tem manga boa?” e fica no vácuo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6012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pergunta no zap, Nivaldo está pesando, atendendo, no CEASA.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pergunta sem resposta é venda perdida — e cliente que migra.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CEFDF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1737360"/>
            <a:ext cx="566928" cy="566928"/>
          </a:xfrm>
          <a:prstGeom prst="ellipse">
            <a:avLst/>
          </a:prstGeom>
          <a:solidFill>
            <a:srgbClr val="E886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743" y="18734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755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caixote de toda manhã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583680" y="2514600"/>
            <a:ext cx="4754880" cy="2103120"/>
          </a:xfrm>
          <a:prstGeom prst="roundRect">
            <a:avLst>
              <a:gd name="adj" fmla="val 3913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805672" y="327355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354787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 cheio de fruta que passou do ponto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6583680" y="4846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fruta descartada foi comprada com dinheiro dele no CEASA.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caixote é margem no lixo — e ele só percebe quando já é tarde.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4846320" cy="4846320"/>
          </a:xfrm>
          <a:prstGeom prst="roundRect">
            <a:avLst>
              <a:gd name="adj" fmla="val 1698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3090672" y="309067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3649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caixote das 6:30 — o herói da história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126480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Às 6:30, o Nivaldo já rotula</a:t>
            </a:r>
            <a:endParaRPr lang="en-US" sz="33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dataset sem saber.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144768" y="329184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da prateleira é o estoque.
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 do caixote é o desfecho: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fruta, causa.
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precisa coletar dados por meses — o </a:t>
            </a:r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nasce todo dia, de graça, num gesto que ele já faz.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dado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pro Nivaldo: praticamente zero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09" y="2039569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9611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3×/semana, 15 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611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12" name="Shape 9"/>
          <p:cNvSpPr/>
          <p:nvPr/>
        </p:nvSpPr>
        <p:spPr>
          <a:xfrm>
            <a:off x="466344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769" y="2039569"/>
            <a:ext cx="291694" cy="291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6:30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9087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que ele já tira pro grupo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69087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7" name="Text 13"/>
          <p:cNvSpPr/>
          <p:nvPr/>
        </p:nvSpPr>
        <p:spPr>
          <a:xfrm>
            <a:off x="469087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19" name="Shape 15"/>
          <p:cNvSpPr/>
          <p:nvPr/>
        </p:nvSpPr>
        <p:spPr>
          <a:xfrm>
            <a:off x="8458200" y="1920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529" y="2039569"/>
            <a:ext cx="291694" cy="2916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1929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485632" y="2606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do descarte já separado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485632" y="31729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24" name="Text 19"/>
          <p:cNvSpPr/>
          <p:nvPr/>
        </p:nvSpPr>
        <p:spPr>
          <a:xfrm>
            <a:off x="8485632" y="317296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26" name="Shape 21"/>
          <p:cNvSpPr/>
          <p:nvPr/>
        </p:nvSpPr>
        <p:spPr>
          <a:xfrm>
            <a:off x="86868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09" y="4234129"/>
            <a:ext cx="291694" cy="2916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do zap</a:t>
            </a:r>
            <a:endParaRPr lang="en-US" sz="1650" dirty="0"/>
          </a:p>
        </p:txBody>
      </p:sp>
      <p:sp>
        <p:nvSpPr>
          <p:cNvPr id="29" name="Text 23"/>
          <p:cNvSpPr/>
          <p:nvPr/>
        </p:nvSpPr>
        <p:spPr>
          <a:xfrm>
            <a:off x="89611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clientes, histórico de conversas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9611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1" name="Text 25"/>
          <p:cNvSpPr/>
          <p:nvPr/>
        </p:nvSpPr>
        <p:spPr>
          <a:xfrm>
            <a:off x="89611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43484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33" name="Shape 27"/>
          <p:cNvSpPr/>
          <p:nvPr/>
        </p:nvSpPr>
        <p:spPr>
          <a:xfrm>
            <a:off x="466344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769" y="4234129"/>
            <a:ext cx="291694" cy="29169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4924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(PLU)</a:t>
            </a:r>
            <a:endParaRPr lang="en-US" sz="1650" dirty="0"/>
          </a:p>
        </p:txBody>
      </p:sp>
      <p:sp>
        <p:nvSpPr>
          <p:cNvPr id="36" name="Text 29"/>
          <p:cNvSpPr/>
          <p:nvPr/>
        </p:nvSpPr>
        <p:spPr>
          <a:xfrm>
            <a:off x="469087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venda por produto e hora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469087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E8862D"/>
          </a:solidFill>
          <a:ln/>
        </p:spPr>
      </p:sp>
      <p:sp>
        <p:nvSpPr>
          <p:cNvPr id="38" name="Text 31"/>
          <p:cNvSpPr/>
          <p:nvPr/>
        </p:nvSpPr>
        <p:spPr>
          <a:xfrm>
            <a:off x="469087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229600" y="3886200"/>
            <a:ext cx="3566160" cy="1920240"/>
          </a:xfrm>
          <a:prstGeom prst="roundRect">
            <a:avLst>
              <a:gd name="adj" fmla="val 4762"/>
            </a:avLst>
          </a:prstGeom>
          <a:solidFill>
            <a:srgbClr val="F0F5E9"/>
          </a:solidFill>
          <a:ln/>
        </p:spPr>
      </p:sp>
      <p:sp>
        <p:nvSpPr>
          <p:cNvPr id="40" name="Shape 33"/>
          <p:cNvSpPr/>
          <p:nvPr/>
        </p:nvSpPr>
        <p:spPr>
          <a:xfrm>
            <a:off x="8458200" y="411480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529" y="4234129"/>
            <a:ext cx="291694" cy="29169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144000" y="41239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públicos</a:t>
            </a:r>
            <a:endParaRPr lang="en-US" sz="1650" dirty="0"/>
          </a:p>
        </p:txBody>
      </p:sp>
      <p:sp>
        <p:nvSpPr>
          <p:cNvPr id="43" name="Text 35"/>
          <p:cNvSpPr/>
          <p:nvPr/>
        </p:nvSpPr>
        <p:spPr>
          <a:xfrm>
            <a:off x="8485632" y="48006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CEASA histórico + clima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8485632" y="536752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45" name="Text 37"/>
          <p:cNvSpPr/>
          <p:nvPr/>
        </p:nvSpPr>
        <p:spPr>
          <a:xfrm>
            <a:off x="8485632" y="53675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40080" y="6053328"/>
            <a:ext cx="11155680" cy="566928"/>
          </a:xfrm>
          <a:prstGeom prst="roundRect">
            <a:avLst>
              <a:gd name="adj" fmla="val 16129"/>
            </a:avLst>
          </a:prstGeom>
          <a:solidFill>
            <a:srgbClr val="27431F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181344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371600" y="605332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total de tempo do Nivaldo: menos de 2 minutos por dia — e a regra da casa permite 3.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em uma vista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nomeia a técnica — como o desafio pede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F0F5E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934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4414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6532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8650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0768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28860" y="1883664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2907792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626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record linkage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414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+ cor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532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Rotulagem por causa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650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+ intenção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0768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de PLU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28860" y="3236976"/>
            <a:ext cx="16840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74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Séries temporais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913632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261104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3E6B2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1596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INTELIGENTES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resposta (RAG few-shot)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6532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Sobrevivência: hazard diário por lote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07680" y="4590288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oferta (valor esperado + uplift)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17920" y="5266944"/>
            <a:ext cx="0" cy="27432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0080" y="5614416"/>
            <a:ext cx="11155680" cy="969264"/>
          </a:xfrm>
          <a:prstGeom prst="roundRect">
            <a:avLst>
              <a:gd name="adj" fmla="val 8491"/>
            </a:avLst>
          </a:prstGeom>
          <a:solidFill>
            <a:srgbClr val="E8862D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692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NO WHATSAPP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o cliente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46532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do CEASA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07680" y="5943600"/>
            <a:ext cx="350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segmentada (1 toque)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986016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O caixote e a reação dos clientes voltam como rótulo no dia seguinte — coleta enquanto soluciona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Sexta, 4h30 — nasce o lote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754880" cy="3657600"/>
          </a:xfrm>
          <a:prstGeom prst="roundRect">
            <a:avLst>
              <a:gd name="adj" fmla="val 2250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2862072" y="3364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393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romaneio do CEASA na mão do Nivaldo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77840" y="3657600"/>
            <a:ext cx="685800" cy="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349240" y="2926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parsing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segundos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46520" y="1828800"/>
            <a:ext cx="5074920" cy="3017520"/>
          </a:xfrm>
          <a:prstGeom prst="roundRect">
            <a:avLst>
              <a:gd name="adj" fmla="val 3030"/>
            </a:avLst>
          </a:prstGeom>
          <a:solidFill>
            <a:srgbClr val="F0F5E9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19659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extrai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23957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366760" y="2395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509760" y="23957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44200" y="239572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2724912"/>
            <a:ext cx="46177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27980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tommy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66760" y="27980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09760" y="27980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R$ 3,10/kg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744200" y="279806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12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675120" y="32004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Tomate italiano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366760" y="32004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cx (20 kg)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509760" y="32004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R$ 2,25/kg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744200" y="320040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30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360273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Mamão formosa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66760" y="36027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509760" y="36027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R$ 2,80/kg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744200" y="36027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07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46520" y="5029200"/>
            <a:ext cx="5074920" cy="1051560"/>
          </a:xfrm>
          <a:prstGeom prst="roundRect">
            <a:avLst>
              <a:gd name="adj" fmla="val 8696"/>
            </a:avLst>
          </a:prstGeom>
          <a:solidFill>
            <a:srgbClr val="27431F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51206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t₀ do lote registrado.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relógio da vida de prateleira da manga começa a contar — próximo CEASA: segunda.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Sábado e domingo — o sistema enxerga o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787652" y="25191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9349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SÁB com detecções (YOLO)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406908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787652" y="47594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503377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 DOM — manga mudando de tom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291840" y="35661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ângulo,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dias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480560" y="1828800"/>
          <a:ext cx="7040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4480560" y="5623560"/>
            <a:ext cx="7040880" cy="777240"/>
          </a:xfrm>
          <a:prstGeom prst="roundRect">
            <a:avLst>
              <a:gd name="adj" fmla="val 11765"/>
            </a:avLst>
          </a:prstGeom>
          <a:solidFill>
            <a:srgbClr val="FCEFDF"/>
          </a:solidFill>
          <a:ln/>
        </p:spPr>
      </p:sp>
      <p:sp>
        <p:nvSpPr>
          <p:cNvPr id="14" name="Text 9"/>
          <p:cNvSpPr/>
          <p:nvPr/>
        </p:nvSpPr>
        <p:spPr>
          <a:xfrm>
            <a:off x="4709160" y="5623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6:30 a curva cruza o limiar → oferta dispara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manga ainda no estágio 2 — vendável, não desesperada.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ATO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oferta sai no zap — no tom dele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2 · aprovação de 1 toque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4572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78608"/>
            <a:ext cx="4206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→ Nivaldo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“Manga tommy: 30% de risco de perda até 2ª. Sugiro oferta a R$ 4,90 (era 6,50) pros 37 clientes que compram manga. Mando?”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PREÇO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0" y="4251960"/>
            <a:ext cx="1481328" cy="365760"/>
          </a:xfrm>
          <a:prstGeom prst="roundRect">
            <a:avLst>
              <a:gd name="adj" fmla="val 50000"/>
            </a:avLst>
          </a:prstGeom>
          <a:solidFill>
            <a:srgbClr val="C7CDBD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2519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27431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9560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toque = oferta enviada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pra quem compra manga — e o toque vira rótulo que treina o modelo.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18288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CEFD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93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1 · resposta automática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246888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560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· 9:12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 dia, tem manga boa?”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3429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DDEED0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3538728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4 s · ancorada no estoque real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“Bom dia! Tem sim, a tommy tá docinha e hoje tá em oferta: 4,90 o quilo. Separo pra você?”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489204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E8862D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95604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no tom do Nivaldo: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vem das respostas antigas dele; fatos vêm do estado do dia. Sem inventar estoque.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E6B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EPÍLOGO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Segunda, 6h30 — o caixote conta outra história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2039112" y="31363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10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 cheio (slide 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977640" y="3429000"/>
            <a:ext cx="640080" cy="0"/>
          </a:xfrm>
          <a:prstGeom prst="line">
            <a:avLst/>
          </a:prstGeom>
          <a:noFill/>
          <a:ln w="22225">
            <a:solidFill>
              <a:srgbClr val="6B7263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8463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2240280"/>
            <a:ext cx="3108960" cy="2377440"/>
          </a:xfrm>
          <a:prstGeom prst="roundRect">
            <a:avLst>
              <a:gd name="adj" fmla="val 3462"/>
            </a:avLst>
          </a:prstGeom>
          <a:solidFill>
            <a:srgbClr val="E8EDE0"/>
          </a:solidFill>
          <a:ln w="15875">
            <a:solidFill>
              <a:srgbClr val="9AA88B"/>
            </a:solidFill>
            <a:prstDash val="dash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245352" y="3136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410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REAL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caixote quase vazio na segunda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66760" y="1828800"/>
            <a:ext cx="3200400" cy="2788920"/>
          </a:xfrm>
          <a:prstGeom prst="roundRect">
            <a:avLst>
              <a:gd name="adj" fmla="val 3934"/>
            </a:avLst>
          </a:prstGeom>
          <a:solidFill>
            <a:srgbClr val="27431F"/>
          </a:solidFill>
          <a:ln/>
        </p:spPr>
      </p:sp>
      <p:sp>
        <p:nvSpPr>
          <p:cNvPr id="15" name="Text 11"/>
          <p:cNvSpPr/>
          <p:nvPr/>
        </p:nvSpPr>
        <p:spPr>
          <a:xfrm>
            <a:off x="859536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no zap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595360" y="2377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R$ 340</a:t>
            </a:r>
            <a:endParaRPr lang="en-US" sz="4400" dirty="0"/>
          </a:p>
        </p:txBody>
      </p:sp>
      <p:sp>
        <p:nvSpPr>
          <p:cNvPr id="17" name="Text 13"/>
          <p:cNvSpPr/>
          <p:nvPr/>
        </p:nvSpPr>
        <p:spPr>
          <a:xfrm>
            <a:off x="859536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perda evitada nesta semana*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9536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fechamento do dia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quebra invisível do mês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0F5E9"/>
          </a:solidFill>
          <a:ln/>
        </p:spPr>
      </p:sp>
      <p:sp>
        <p:nvSpPr>
          <p:cNvPr id="20" name="Text 16"/>
          <p:cNvSpPr/>
          <p:nvPr/>
        </p:nvSpPr>
        <p:spPr>
          <a:xfrm>
            <a:off x="914400" y="51389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número que renova a assinatura: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32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Nivaldo não compra IA — compra caixote vazio. (*valor ilustrativo; o real sai do backtest com os dados dele)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 como funciona sem histórico?”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que os jurados vão fazer — e a resposta em três fases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3E6B2F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2743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1625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768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dia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celular dele — nada de hardware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público (CEASA + vida útil) e regras de domínio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já responde; oferta por regra grosseira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toque de 1 clique = rótulo (active learning)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E886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72584" y="2039112"/>
            <a:ext cx="548640" cy="548640"/>
          </a:xfrm>
          <a:prstGeom prst="ellipse">
            <a:avLst/>
          </a:prstGeom>
          <a:solidFill>
            <a:srgbClr val="B85E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1625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~6 semanas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90872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 pelos caixotes reais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conectada: giro por hora, balanço de massa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com valor esperado + segmentação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semanal decide cada versão nova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178308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5F5E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2039112"/>
            <a:ext cx="548640" cy="548640"/>
          </a:xfrm>
          <a:prstGeom prst="ellipse">
            <a:avLst/>
          </a:prstGeom>
          <a:solidFill>
            <a:srgbClr val="4444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21625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2057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opcional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67344" y="2834640"/>
            <a:ext cx="30632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olhando a prateleira — não a rua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com pessoa é descartado no dispositivo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hora em hora, giro intradiário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biometria, zero dado pessoal</a:t>
            </a:r>
            <a:endParaRPr lang="en-US" sz="12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617220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" y="6108192"/>
            <a:ext cx="0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1" name="Text 15"/>
          <p:cNvSpPr/>
          <p:nvPr/>
        </p:nvSpPr>
        <p:spPr>
          <a:xfrm>
            <a:off x="1024128" y="61081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E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“fase de coleta” separada: o sistema coleta enquanto soluciona — restrição 2 da casa, resolvida por desenho.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só o Nivaldo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micro-varejista de perecível tem a mesma estrutura: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no atacado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090672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19856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8" name="Text 6"/>
          <p:cNvSpPr/>
          <p:nvPr/>
        </p:nvSpPr>
        <p:spPr>
          <a:xfrm>
            <a:off x="3419856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no olho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870448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99632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 no caixote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50224" y="2331720"/>
            <a:ext cx="2743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979408" y="1965960"/>
            <a:ext cx="2395728" cy="731520"/>
          </a:xfrm>
          <a:prstGeom prst="roundRect">
            <a:avLst>
              <a:gd name="adj" fmla="val 12500"/>
            </a:avLst>
          </a:prstGeom>
          <a:solidFill>
            <a:srgbClr val="355426"/>
          </a:solidFill>
          <a:ln/>
        </p:spPr>
      </p:sp>
      <p:sp>
        <p:nvSpPr>
          <p:cNvPr id="14" name="Text 12"/>
          <p:cNvSpPr/>
          <p:nvPr/>
        </p:nvSpPr>
        <p:spPr>
          <a:xfrm>
            <a:off x="8979408" y="1965960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no zap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8368" y="2926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é o mesmo — só troca o vocabulário de produtos. Açougue, padaria, floricultura, peixaria.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35542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1440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8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 menor que a perda evitada — o relatório semanal prova o ROI todo mês, em reais.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36576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862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93192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perguntarem da câmera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53796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D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“Escolhemos a tecnologia que olha pra fruta, não pra pessoa. Fruta é o que estraga — e fruta não tem LGPD.”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 — perguntas?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2026-07-24T20:09:34Z</dcterms:created>
  <dcterms:modified xsi:type="dcterms:W3CDTF">2026-07-24T20:09:34Z</dcterms:modified>
</cp:coreProperties>
</file>